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3" r:id="rId1"/>
  </p:sldMasterIdLst>
  <p:sldIdLst>
    <p:sldId id="256" r:id="rId2"/>
    <p:sldId id="257" r:id="rId3"/>
    <p:sldId id="258" r:id="rId4"/>
    <p:sldId id="262" r:id="rId5"/>
    <p:sldId id="259" r:id="rId6"/>
    <p:sldId id="260" r:id="rId7"/>
    <p:sldId id="266" r:id="rId8"/>
    <p:sldId id="263" r:id="rId9"/>
    <p:sldId id="264" r:id="rId10"/>
    <p:sldId id="265" r:id="rId11"/>
    <p:sldId id="261" r:id="rId12"/>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țiune implicită" id="{DCE1B8C1-ED87-4F8F-8A2A-B2DB0EAA54CD}">
          <p14:sldIdLst>
            <p14:sldId id="256"/>
            <p14:sldId id="257"/>
            <p14:sldId id="258"/>
            <p14:sldId id="262"/>
            <p14:sldId id="259"/>
            <p14:sldId id="260"/>
            <p14:sldId id="266"/>
            <p14:sldId id="263"/>
            <p14:sldId id="264"/>
            <p14:sldId id="265"/>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2C9664-E10A-2D24-0B2E-C60255EC4F0D}" v="50" dt="2024-12-02T14:25:37.963"/>
    <p1510:client id="{E3E8A631-5F21-1D87-F76A-5B5C97FAD1D4}" v="1" dt="2024-12-02T14:07:39.162"/>
  </p1510:revLst>
</p1510:revInfo>
</file>

<file path=ppt/tableStyles.xml><?xml version="1.0" encoding="utf-8"?>
<a:tblStyleLst xmlns:a="http://schemas.openxmlformats.org/drawingml/2006/main" def="{5C22544A-7EE6-4342-B048-85BDC9FD1C3A}">
  <a:tblStyle styleId="{5C22544A-7EE6-4342-B048-85BDC9FD1C3A}" styleName="Stil mediu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902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593691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199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4277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289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915687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24256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80186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057436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163168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12/2/2024</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4292956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12/2/2024</a:t>
            </a:fld>
            <a:endParaRPr lang="en-US"/>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a:p>
        </p:txBody>
      </p:sp>
    </p:spTree>
    <p:extLst>
      <p:ext uri="{BB962C8B-B14F-4D97-AF65-F5344CB8AC3E}">
        <p14:creationId xmlns:p14="http://schemas.microsoft.com/office/powerpoint/2010/main" val="222412284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blog/2022-09-07-research-quantifying-github-copilots-impact-on-developer-productivity-and-happines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github.com/de/copilot/about-github-copilot/what-is-github-copilo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EB96CAC-5A33-8303-9C73-1B3220A5D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524"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gradFill>
            <a:gsLst>
              <a:gs pos="0">
                <a:schemeClr val="accent1">
                  <a:lumMod val="60000"/>
                  <a:lumOff val="40000"/>
                  <a:alpha val="20000"/>
                </a:schemeClr>
              </a:gs>
              <a:gs pos="7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u 1"/>
          <p:cNvSpPr>
            <a:spLocks noGrp="1"/>
          </p:cNvSpPr>
          <p:nvPr>
            <p:ph type="ctrTitle"/>
          </p:nvPr>
        </p:nvSpPr>
        <p:spPr>
          <a:xfrm>
            <a:off x="634397" y="2160316"/>
            <a:ext cx="4814289" cy="1450961"/>
          </a:xfrm>
        </p:spPr>
        <p:txBody>
          <a:bodyPr vert="horz" lIns="91440" tIns="45720" rIns="91440" bIns="45720" rtlCol="0" anchor="b">
            <a:noAutofit/>
          </a:bodyPr>
          <a:lstStyle/>
          <a:p>
            <a:pPr algn="ctr"/>
            <a:r>
              <a:rPr lang="ro-RO" sz="4000" err="1"/>
              <a:t>Github</a:t>
            </a:r>
            <a:r>
              <a:rPr lang="ro-RO" sz="4000"/>
              <a:t> copilot</a:t>
            </a:r>
            <a:endParaRPr lang="en-US" sz="4000"/>
          </a:p>
        </p:txBody>
      </p:sp>
      <p:sp>
        <p:nvSpPr>
          <p:cNvPr id="3" name="Subtitlu 2"/>
          <p:cNvSpPr>
            <a:spLocks noGrp="1"/>
          </p:cNvSpPr>
          <p:nvPr>
            <p:ph type="subTitle" idx="1"/>
          </p:nvPr>
        </p:nvSpPr>
        <p:spPr>
          <a:xfrm>
            <a:off x="1523998" y="4244336"/>
            <a:ext cx="3048000" cy="877585"/>
          </a:xfrm>
        </p:spPr>
        <p:txBody>
          <a:bodyPr vert="horz" lIns="91440" tIns="45720" rIns="91440" bIns="45720" rtlCol="0" anchor="t">
            <a:normAutofit/>
          </a:bodyPr>
          <a:lstStyle/>
          <a:p>
            <a:pPr algn="ctr"/>
            <a:r>
              <a:rPr lang="ro-RO"/>
              <a:t>Eficienta si rapiditate</a:t>
            </a:r>
          </a:p>
        </p:txBody>
      </p:sp>
      <p:cxnSp>
        <p:nvCxnSpPr>
          <p:cNvPr id="20" name="Straight Connector 19">
            <a:extLst>
              <a:ext uri="{FF2B5EF4-FFF2-40B4-BE49-F238E27FC236}">
                <a16:creationId xmlns:a16="http://schemas.microsoft.com/office/drawing/2014/main" id="{7454BE46-239F-BB50-4643-61FF5943B7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62423" y="395142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asetăText 3">
            <a:extLst>
              <a:ext uri="{FF2B5EF4-FFF2-40B4-BE49-F238E27FC236}">
                <a16:creationId xmlns:a16="http://schemas.microsoft.com/office/drawing/2014/main" id="{1410D0A0-08DF-B4B4-F3FB-39CED6D27372}"/>
              </a:ext>
            </a:extLst>
          </p:cNvPr>
          <p:cNvSpPr txBox="1"/>
          <p:nvPr/>
        </p:nvSpPr>
        <p:spPr>
          <a:xfrm>
            <a:off x="3541663" y="6094506"/>
            <a:ext cx="540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ro-RO"/>
              <a:t>Managementul si Proiectarea Sistemelor Software</a:t>
            </a:r>
          </a:p>
          <a:p>
            <a:pPr algn="r"/>
            <a:r>
              <a:rPr lang="ro-RO" err="1"/>
              <a:t>Studenti</a:t>
            </a:r>
            <a:r>
              <a:rPr lang="ro-RO"/>
              <a:t>: Aldea Alexia &amp; Cristea Bianca</a:t>
            </a:r>
          </a:p>
        </p:txBody>
      </p:sp>
    </p:spTree>
    <p:extLst>
      <p:ext uri="{BB962C8B-B14F-4D97-AF65-F5344CB8AC3E}">
        <p14:creationId xmlns:p14="http://schemas.microsoft.com/office/powerpoint/2010/main" val="2499791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325CDAE-C9A2-5026-BE07-7A9C7ECF6CD5}"/>
              </a:ext>
            </a:extLst>
          </p:cNvPr>
          <p:cNvSpPr>
            <a:spLocks noGrp="1"/>
          </p:cNvSpPr>
          <p:nvPr>
            <p:ph type="title"/>
          </p:nvPr>
        </p:nvSpPr>
        <p:spPr/>
        <p:txBody>
          <a:bodyPr/>
          <a:lstStyle/>
          <a:p>
            <a:r>
              <a:rPr lang="ro-RO"/>
              <a:t>Cuprins</a:t>
            </a:r>
          </a:p>
        </p:txBody>
      </p:sp>
      <p:sp>
        <p:nvSpPr>
          <p:cNvPr id="3" name="Substituent conținut 2">
            <a:extLst>
              <a:ext uri="{FF2B5EF4-FFF2-40B4-BE49-F238E27FC236}">
                <a16:creationId xmlns:a16="http://schemas.microsoft.com/office/drawing/2014/main" id="{E0043DE5-8B3A-2AAF-0228-1FA0B4BD0D07}"/>
              </a:ext>
            </a:extLst>
          </p:cNvPr>
          <p:cNvSpPr>
            <a:spLocks noGrp="1"/>
          </p:cNvSpPr>
          <p:nvPr>
            <p:ph idx="1"/>
          </p:nvPr>
        </p:nvSpPr>
        <p:spPr/>
        <p:txBody>
          <a:bodyPr vert="horz" lIns="91440" tIns="45720" rIns="91440" bIns="45720" rtlCol="0" anchor="t">
            <a:normAutofit/>
          </a:bodyPr>
          <a:lstStyle/>
          <a:p>
            <a:r>
              <a:rPr lang="ro-RO"/>
              <a:t>Ce este </a:t>
            </a:r>
            <a:r>
              <a:rPr lang="ro-RO" err="1"/>
              <a:t>GitHub</a:t>
            </a:r>
            <a:r>
              <a:rPr lang="ro-RO"/>
              <a:t> Copilot?</a:t>
            </a:r>
          </a:p>
          <a:p>
            <a:r>
              <a:rPr lang="ro-RO"/>
              <a:t>Cum funcționează </a:t>
            </a:r>
            <a:r>
              <a:rPr lang="ro-RO" err="1"/>
              <a:t>GitHub</a:t>
            </a:r>
            <a:r>
              <a:rPr lang="ro-RO"/>
              <a:t> Copilot?</a:t>
            </a:r>
          </a:p>
          <a:p>
            <a:r>
              <a:rPr lang="ro-RO"/>
              <a:t>Caracteristici</a:t>
            </a:r>
          </a:p>
          <a:p>
            <a:r>
              <a:rPr lang="ro-RO"/>
              <a:t>Demonstrații practice</a:t>
            </a:r>
          </a:p>
          <a:p>
            <a:r>
              <a:rPr lang="ro-RO"/>
              <a:t>Avantaje si dezavantaje </a:t>
            </a:r>
            <a:r>
              <a:rPr lang="ro-RO" err="1"/>
              <a:t>GitHub</a:t>
            </a:r>
            <a:r>
              <a:rPr lang="ro-RO"/>
              <a:t> Copilot</a:t>
            </a:r>
          </a:p>
          <a:p>
            <a:r>
              <a:rPr lang="ro-RO"/>
              <a:t>Exemple din experiența personală</a:t>
            </a:r>
          </a:p>
          <a:p>
            <a:r>
              <a:rPr lang="ro-RO"/>
              <a:t>Sugestii pentru Îmbunătățirea Productivității și Practicilor de Codare</a:t>
            </a:r>
          </a:p>
          <a:p>
            <a:r>
              <a:rPr lang="ro-RO"/>
              <a:t>Concluzie</a:t>
            </a:r>
          </a:p>
          <a:p>
            <a:endParaRPr lang="ro-RO"/>
          </a:p>
        </p:txBody>
      </p:sp>
    </p:spTree>
    <p:extLst>
      <p:ext uri="{BB962C8B-B14F-4D97-AF65-F5344CB8AC3E}">
        <p14:creationId xmlns:p14="http://schemas.microsoft.com/office/powerpoint/2010/main" val="1998458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8CBAE15-D586-B5CD-1737-20F183C494C3}"/>
              </a:ext>
            </a:extLst>
          </p:cNvPr>
          <p:cNvSpPr>
            <a:spLocks noGrp="1"/>
          </p:cNvSpPr>
          <p:nvPr>
            <p:ph type="title"/>
          </p:nvPr>
        </p:nvSpPr>
        <p:spPr/>
        <p:txBody>
          <a:bodyPr/>
          <a:lstStyle/>
          <a:p>
            <a:r>
              <a:rPr lang="ro-RO" sz="4400" b="0">
                <a:latin typeface="Calibri Light"/>
                <a:cs typeface="Calibri Light"/>
              </a:rPr>
              <a:t>Ce este </a:t>
            </a:r>
            <a:r>
              <a:rPr lang="ro-RO" sz="4400" b="0" err="1">
                <a:latin typeface="Calibri Light"/>
                <a:cs typeface="Calibri Light"/>
              </a:rPr>
              <a:t>GitHub</a:t>
            </a:r>
            <a:r>
              <a:rPr lang="ro-RO" sz="4400" b="0">
                <a:latin typeface="Calibri Light"/>
                <a:cs typeface="Calibri Light"/>
              </a:rPr>
              <a:t> Copilot?</a:t>
            </a:r>
            <a:endParaRPr lang="ro-RO"/>
          </a:p>
        </p:txBody>
      </p:sp>
      <p:sp>
        <p:nvSpPr>
          <p:cNvPr id="3" name="Substituent conținut 2">
            <a:extLst>
              <a:ext uri="{FF2B5EF4-FFF2-40B4-BE49-F238E27FC236}">
                <a16:creationId xmlns:a16="http://schemas.microsoft.com/office/drawing/2014/main" id="{8956BF47-53E3-D5BE-DA3D-9AE4EFBC481C}"/>
              </a:ext>
            </a:extLst>
          </p:cNvPr>
          <p:cNvSpPr>
            <a:spLocks noGrp="1"/>
          </p:cNvSpPr>
          <p:nvPr>
            <p:ph idx="1"/>
          </p:nvPr>
        </p:nvSpPr>
        <p:spPr/>
        <p:txBody>
          <a:bodyPr vert="horz" lIns="91440" tIns="45720" rIns="91440" bIns="45720" rtlCol="0" anchor="t">
            <a:normAutofit/>
          </a:bodyPr>
          <a:lstStyle/>
          <a:p>
            <a:r>
              <a:rPr lang="ro-RO">
                <a:latin typeface="Calibri"/>
                <a:cs typeface="Calibri"/>
              </a:rPr>
              <a:t>Este un </a:t>
            </a:r>
            <a:r>
              <a:rPr lang="ro-RO" b="1">
                <a:latin typeface="Calibri"/>
                <a:cs typeface="Calibri"/>
              </a:rPr>
              <a:t>asistent de codare bazat pe Inteligenta Artificiala</a:t>
            </a:r>
            <a:r>
              <a:rPr lang="ro-RO">
                <a:latin typeface="Calibri"/>
                <a:cs typeface="Calibri"/>
              </a:rPr>
              <a:t>, dezvoltat in parteneriat cu </a:t>
            </a:r>
            <a:r>
              <a:rPr lang="ro-RO" err="1">
                <a:latin typeface="Calibri"/>
                <a:cs typeface="Calibri"/>
              </a:rPr>
              <a:t>OpenAI</a:t>
            </a:r>
            <a:endParaRPr lang="ro-RO" err="1"/>
          </a:p>
          <a:p>
            <a:r>
              <a:rPr lang="ro-RO" err="1">
                <a:latin typeface="Calibri"/>
                <a:cs typeface="Calibri"/>
              </a:rPr>
              <a:t>Ofera</a:t>
            </a:r>
            <a:r>
              <a:rPr lang="ro-RO">
                <a:latin typeface="Calibri"/>
                <a:cs typeface="Calibri"/>
              </a:rPr>
              <a:t> </a:t>
            </a:r>
            <a:r>
              <a:rPr lang="ro-RO" b="1">
                <a:latin typeface="Calibri"/>
                <a:cs typeface="Calibri"/>
              </a:rPr>
              <a:t>eficienta si rapiditate </a:t>
            </a:r>
            <a:r>
              <a:rPr lang="ro-RO">
                <a:latin typeface="Calibri"/>
                <a:cs typeface="Calibri"/>
              </a:rPr>
              <a:t>in scrierea codului, prin sugestii cod in timp real</a:t>
            </a:r>
            <a:endParaRPr lang="ro-RO"/>
          </a:p>
          <a:p>
            <a:r>
              <a:rPr lang="ro-RO" err="1">
                <a:latin typeface="Calibri"/>
                <a:cs typeface="Calibri"/>
              </a:rPr>
              <a:t>Ofera</a:t>
            </a:r>
            <a:r>
              <a:rPr lang="ro-RO">
                <a:latin typeface="Calibri"/>
                <a:cs typeface="Calibri"/>
              </a:rPr>
              <a:t> </a:t>
            </a:r>
            <a:r>
              <a:rPr lang="ro-RO" b="1">
                <a:latin typeface="Calibri"/>
                <a:cs typeface="Calibri"/>
              </a:rPr>
              <a:t>suport in scrierea codului standard si repetitiv</a:t>
            </a:r>
            <a:r>
              <a:rPr lang="ro-RO">
                <a:latin typeface="Calibri"/>
                <a:cs typeface="Calibri"/>
              </a:rPr>
              <a:t>, </a:t>
            </a:r>
            <a:r>
              <a:rPr lang="ro-RO" err="1">
                <a:latin typeface="Calibri"/>
                <a:cs typeface="Calibri"/>
              </a:rPr>
              <a:t>eliminand</a:t>
            </a:r>
            <a:r>
              <a:rPr lang="ro-RO">
                <a:latin typeface="Calibri"/>
                <a:cs typeface="Calibri"/>
              </a:rPr>
              <a:t> astfel timpul pierdut pe sarcinile minore</a:t>
            </a:r>
            <a:endParaRPr lang="ro-RO"/>
          </a:p>
          <a:p>
            <a:r>
              <a:rPr lang="ro-RO" b="1">
                <a:latin typeface="Calibri"/>
                <a:cs typeface="Calibri"/>
              </a:rPr>
              <a:t>Permite programatorilor sa se concentreze pe rezolvarea problemelor complexe si pe </a:t>
            </a:r>
            <a:r>
              <a:rPr lang="ro-RO" b="1" err="1">
                <a:latin typeface="Calibri"/>
                <a:cs typeface="Calibri"/>
              </a:rPr>
              <a:t>inovatie</a:t>
            </a:r>
            <a:r>
              <a:rPr lang="ro-RO">
                <a:latin typeface="Calibri"/>
                <a:cs typeface="Calibri"/>
              </a:rPr>
              <a:t>, probleme care necesita creativitate si expertiza umana pe care AI-</a:t>
            </a:r>
            <a:r>
              <a:rPr lang="ro-RO" err="1">
                <a:latin typeface="Calibri"/>
                <a:cs typeface="Calibri"/>
              </a:rPr>
              <a:t>ul</a:t>
            </a:r>
            <a:r>
              <a:rPr lang="ro-RO">
                <a:latin typeface="Calibri"/>
                <a:cs typeface="Calibri"/>
              </a:rPr>
              <a:t> nu le poate </a:t>
            </a:r>
            <a:r>
              <a:rPr lang="ro-RO" err="1">
                <a:latin typeface="Calibri"/>
                <a:cs typeface="Calibri"/>
              </a:rPr>
              <a:t>inlocui</a:t>
            </a:r>
            <a:endParaRPr lang="ro-RO" err="1"/>
          </a:p>
          <a:p>
            <a:r>
              <a:rPr lang="ro-RO">
                <a:latin typeface="Calibri"/>
                <a:cs typeface="Calibri"/>
              </a:rPr>
              <a:t>S-a dovedit ca </a:t>
            </a:r>
            <a:r>
              <a:rPr lang="ro-RO" err="1">
                <a:latin typeface="Calibri"/>
                <a:cs typeface="Calibri"/>
              </a:rPr>
              <a:t>GitHub</a:t>
            </a:r>
            <a:r>
              <a:rPr lang="ro-RO">
                <a:latin typeface="Calibri"/>
                <a:cs typeface="Calibri"/>
              </a:rPr>
              <a:t> copilot </a:t>
            </a:r>
            <a:r>
              <a:rPr lang="ro-RO" b="1">
                <a:latin typeface="Calibri"/>
                <a:cs typeface="Calibri"/>
              </a:rPr>
              <a:t>creste productivitatea dezvoltatorilor si </a:t>
            </a:r>
            <a:r>
              <a:rPr lang="ro-RO" b="1" err="1">
                <a:latin typeface="Calibri"/>
                <a:cs typeface="Calibri"/>
              </a:rPr>
              <a:t>accelereaza</a:t>
            </a:r>
            <a:r>
              <a:rPr lang="ro-RO" b="1">
                <a:latin typeface="Calibri"/>
                <a:cs typeface="Calibri"/>
              </a:rPr>
              <a:t> ritmul </a:t>
            </a:r>
            <a:r>
              <a:rPr lang="ro-RO" b="1" err="1">
                <a:latin typeface="Calibri"/>
                <a:cs typeface="Calibri"/>
              </a:rPr>
              <a:t>dezvoltarii</a:t>
            </a:r>
            <a:r>
              <a:rPr lang="ro-RO" b="1">
                <a:latin typeface="Calibri"/>
                <a:cs typeface="Calibri"/>
              </a:rPr>
              <a:t> </a:t>
            </a:r>
            <a:r>
              <a:rPr lang="ro-RO">
                <a:latin typeface="Calibri"/>
                <a:cs typeface="Calibri"/>
              </a:rPr>
              <a:t>software conform </a:t>
            </a:r>
            <a:r>
              <a:rPr lang="ro-RO" sz="1200">
                <a:solidFill>
                  <a:srgbClr val="1F2328"/>
                </a:solidFill>
                <a:ea typeface="+mn-lt"/>
                <a:cs typeface="+mn-lt"/>
              </a:rPr>
              <a:t>„ </a:t>
            </a:r>
            <a:r>
              <a:rPr lang="ro-RO" sz="1200" u="sng">
                <a:solidFill>
                  <a:srgbClr val="0070C0"/>
                </a:solidFill>
                <a:ea typeface="+mn-lt"/>
                <a:cs typeface="+mn-lt"/>
                <a:hlinkClick r:id="rId2">
                  <a:extLst>
                    <a:ext uri="{A12FA001-AC4F-418D-AE19-62706E023703}">
                      <ahyp:hlinkClr xmlns:ahyp="http://schemas.microsoft.com/office/drawing/2018/hyperlinkcolor" val="tx"/>
                    </a:ext>
                  </a:extLst>
                </a:hlinkClick>
              </a:rPr>
              <a:t>Cercetare: cuantificarea impactului GitHub Copilot asupra productivității și fericirii dezvoltatorilor</a:t>
            </a:r>
            <a:r>
              <a:rPr lang="ro-RO" sz="1200">
                <a:solidFill>
                  <a:srgbClr val="1F2328"/>
                </a:solidFill>
                <a:ea typeface="+mn-lt"/>
                <a:cs typeface="+mn-lt"/>
              </a:rPr>
              <a:t> ” în blogul </a:t>
            </a:r>
            <a:r>
              <a:rPr lang="ro-RO" sz="1200" err="1">
                <a:solidFill>
                  <a:srgbClr val="1F2328"/>
                </a:solidFill>
                <a:ea typeface="+mn-lt"/>
                <a:cs typeface="+mn-lt"/>
              </a:rPr>
              <a:t>GitHub</a:t>
            </a:r>
            <a:endParaRPr lang="ro-RO" err="1"/>
          </a:p>
          <a:p>
            <a:pPr marL="0" indent="0">
              <a:buNone/>
            </a:pPr>
            <a:endParaRPr lang="ro-RO"/>
          </a:p>
        </p:txBody>
      </p:sp>
    </p:spTree>
    <p:extLst>
      <p:ext uri="{BB962C8B-B14F-4D97-AF65-F5344CB8AC3E}">
        <p14:creationId xmlns:p14="http://schemas.microsoft.com/office/powerpoint/2010/main" val="2220949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8CBAE15-D586-B5CD-1737-20F183C494C3}"/>
              </a:ext>
            </a:extLst>
          </p:cNvPr>
          <p:cNvSpPr>
            <a:spLocks noGrp="1"/>
          </p:cNvSpPr>
          <p:nvPr>
            <p:ph type="title"/>
          </p:nvPr>
        </p:nvSpPr>
        <p:spPr>
          <a:xfrm>
            <a:off x="952500" y="401638"/>
            <a:ext cx="10287000" cy="1503362"/>
          </a:xfrm>
        </p:spPr>
        <p:txBody>
          <a:bodyPr>
            <a:normAutofit fontScale="90000"/>
          </a:bodyPr>
          <a:lstStyle/>
          <a:p>
            <a:r>
              <a:rPr lang="ro-RO" sz="4400" b="0" err="1">
                <a:latin typeface="Calibri Light"/>
                <a:ea typeface="Calibri Light"/>
                <a:cs typeface="Calibri Light"/>
              </a:rPr>
              <a:t>CUm</a:t>
            </a:r>
            <a:r>
              <a:rPr lang="ro-RO" sz="4400" b="0">
                <a:latin typeface="Calibri Light"/>
                <a:ea typeface="Calibri Light"/>
                <a:cs typeface="Calibri Light"/>
              </a:rPr>
              <a:t> </a:t>
            </a:r>
            <a:r>
              <a:rPr lang="ro-RO" sz="4400" b="0" err="1">
                <a:latin typeface="Calibri Light"/>
                <a:ea typeface="Calibri Light"/>
                <a:cs typeface="Calibri Light"/>
              </a:rPr>
              <a:t>functioneaza</a:t>
            </a:r>
            <a:r>
              <a:rPr lang="ro-RO" sz="4400" b="0">
                <a:latin typeface="Calibri Light"/>
                <a:ea typeface="Calibri Light"/>
                <a:cs typeface="Calibri Light"/>
              </a:rPr>
              <a:t> </a:t>
            </a:r>
            <a:r>
              <a:rPr lang="ro-RO" sz="4400" b="0" err="1">
                <a:latin typeface="Calibri Light"/>
                <a:ea typeface="Calibri Light"/>
                <a:cs typeface="Calibri Light"/>
              </a:rPr>
              <a:t>github</a:t>
            </a:r>
            <a:r>
              <a:rPr lang="ro-RO" sz="4400" b="0">
                <a:latin typeface="Calibri Light"/>
                <a:ea typeface="Calibri Light"/>
                <a:cs typeface="Calibri Light"/>
              </a:rPr>
              <a:t> copilot?</a:t>
            </a:r>
            <a:endParaRPr lang="ro-RO">
              <a:latin typeface="Trade Gothic Next Cond"/>
              <a:cs typeface="Calibri Light"/>
            </a:endParaRPr>
          </a:p>
        </p:txBody>
      </p:sp>
      <p:sp>
        <p:nvSpPr>
          <p:cNvPr id="3" name="Substituent conținut 2">
            <a:extLst>
              <a:ext uri="{FF2B5EF4-FFF2-40B4-BE49-F238E27FC236}">
                <a16:creationId xmlns:a16="http://schemas.microsoft.com/office/drawing/2014/main" id="{8956BF47-53E3-D5BE-DA3D-9AE4EFBC481C}"/>
              </a:ext>
            </a:extLst>
          </p:cNvPr>
          <p:cNvSpPr>
            <a:spLocks noGrp="1"/>
          </p:cNvSpPr>
          <p:nvPr>
            <p:ph idx="1"/>
          </p:nvPr>
        </p:nvSpPr>
        <p:spPr/>
        <p:txBody>
          <a:bodyPr vert="horz" lIns="91440" tIns="45720" rIns="91440" bIns="45720" rtlCol="0" anchor="t">
            <a:normAutofit/>
          </a:bodyPr>
          <a:lstStyle/>
          <a:p>
            <a:r>
              <a:rPr lang="ro-RO" b="1" err="1">
                <a:latin typeface="Calibri"/>
                <a:ea typeface="Calibri"/>
                <a:cs typeface="Calibri"/>
              </a:rPr>
              <a:t>GitHub</a:t>
            </a:r>
            <a:r>
              <a:rPr lang="ro-RO" b="1">
                <a:latin typeface="Calibri"/>
                <a:ea typeface="Calibri"/>
                <a:cs typeface="Calibri"/>
              </a:rPr>
              <a:t> Copilot </a:t>
            </a:r>
            <a:r>
              <a:rPr lang="ro-RO">
                <a:latin typeface="Calibri"/>
                <a:ea typeface="Calibri"/>
                <a:cs typeface="Calibri"/>
              </a:rPr>
              <a:t>se bazează pe un model AI care a fost antrenat pe un set mare de cod sursă public pentru a învăța tipare de codare și a genera sugestii bazate pe contextul în care este utilizat. Folosește inputul dat de utilizator în timp real pentru a oferi sugestii relevante în funcție de limbajul de programare, bibliotecile utilizate și tipul de funcție scrisă.</a:t>
            </a:r>
          </a:p>
          <a:p>
            <a:r>
              <a:rPr lang="ro-RO" b="1">
                <a:latin typeface="Calibri"/>
                <a:ea typeface="Calibri"/>
                <a:cs typeface="Calibri"/>
              </a:rPr>
              <a:t>Capacitatea de personalizare</a:t>
            </a:r>
            <a:r>
              <a:rPr lang="ro-RO">
                <a:latin typeface="Calibri"/>
                <a:ea typeface="Calibri"/>
                <a:cs typeface="Calibri"/>
              </a:rPr>
              <a:t>: </a:t>
            </a:r>
            <a:r>
              <a:rPr lang="ro-RO" err="1">
                <a:latin typeface="Calibri"/>
                <a:ea typeface="Calibri"/>
                <a:cs typeface="Calibri"/>
              </a:rPr>
              <a:t>GitHub</a:t>
            </a:r>
            <a:r>
              <a:rPr lang="ro-RO">
                <a:latin typeface="Calibri"/>
                <a:ea typeface="Calibri"/>
                <a:cs typeface="Calibri"/>
              </a:rPr>
              <a:t> Copilot învață din stilul și tiparele de codare ale utilizatorului și se poate adapta pentru a oferi sugestii care sunt în concordanță cu convențiile și structura proiectului.</a:t>
            </a:r>
          </a:p>
        </p:txBody>
      </p:sp>
    </p:spTree>
    <p:extLst>
      <p:ext uri="{BB962C8B-B14F-4D97-AF65-F5344CB8AC3E}">
        <p14:creationId xmlns:p14="http://schemas.microsoft.com/office/powerpoint/2010/main" val="1507933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769C99A-81D5-311D-21D8-FD9CC5385CCB}"/>
              </a:ext>
            </a:extLst>
          </p:cNvPr>
          <p:cNvSpPr>
            <a:spLocks noGrp="1"/>
          </p:cNvSpPr>
          <p:nvPr>
            <p:ph type="title"/>
          </p:nvPr>
        </p:nvSpPr>
        <p:spPr>
          <a:xfrm>
            <a:off x="952500" y="486304"/>
            <a:ext cx="10287000" cy="876829"/>
          </a:xfrm>
        </p:spPr>
        <p:txBody>
          <a:bodyPr/>
          <a:lstStyle/>
          <a:p>
            <a:r>
              <a:rPr lang="ro-RO"/>
              <a:t>caracteristici</a:t>
            </a:r>
          </a:p>
        </p:txBody>
      </p:sp>
      <p:sp>
        <p:nvSpPr>
          <p:cNvPr id="3" name="Substituent conținut 2">
            <a:extLst>
              <a:ext uri="{FF2B5EF4-FFF2-40B4-BE49-F238E27FC236}">
                <a16:creationId xmlns:a16="http://schemas.microsoft.com/office/drawing/2014/main" id="{8FCFB092-301C-2AAC-D117-FB61FB99E346}"/>
              </a:ext>
            </a:extLst>
          </p:cNvPr>
          <p:cNvSpPr>
            <a:spLocks noGrp="1"/>
          </p:cNvSpPr>
          <p:nvPr>
            <p:ph idx="1"/>
          </p:nvPr>
        </p:nvSpPr>
        <p:spPr>
          <a:xfrm>
            <a:off x="952500" y="1481664"/>
            <a:ext cx="10287000" cy="5321831"/>
          </a:xfrm>
        </p:spPr>
        <p:txBody>
          <a:bodyPr vert="horz" lIns="91440" tIns="45720" rIns="91440" bIns="45720" rtlCol="0" anchor="t">
            <a:normAutofit/>
          </a:bodyPr>
          <a:lstStyle/>
          <a:p>
            <a:r>
              <a:rPr lang="ro-RO">
                <a:latin typeface="Calibri"/>
                <a:cs typeface="Calibri"/>
              </a:rPr>
              <a:t>completare cod</a:t>
            </a:r>
            <a:endParaRPr lang="ro-RO"/>
          </a:p>
          <a:p>
            <a:r>
              <a:rPr lang="ro-RO">
                <a:latin typeface="Calibri"/>
                <a:cs typeface="Calibri"/>
              </a:rPr>
              <a:t>copilot chat</a:t>
            </a:r>
            <a:endParaRPr lang="ro-RO"/>
          </a:p>
          <a:p>
            <a:r>
              <a:rPr lang="ro-RO">
                <a:latin typeface="Calibri"/>
                <a:cs typeface="Calibri"/>
              </a:rPr>
              <a:t>copilot in CLI</a:t>
            </a:r>
            <a:endParaRPr lang="ro-RO"/>
          </a:p>
          <a:p>
            <a:r>
              <a:rPr lang="ro-RO" b="1" err="1">
                <a:latin typeface="Calibri"/>
                <a:ea typeface="Calibri"/>
                <a:cs typeface="Calibri"/>
              </a:rPr>
              <a:t>Documentatie</a:t>
            </a:r>
            <a:r>
              <a:rPr lang="ro-RO">
                <a:latin typeface="Calibri"/>
                <a:ea typeface="Calibri"/>
                <a:cs typeface="Calibri"/>
              </a:rPr>
              <a:t>: Poate genera comentarii și descrieri pentru funcții, ajutând la crearea de documentație direct în cod.</a:t>
            </a:r>
          </a:p>
          <a:p>
            <a:r>
              <a:rPr lang="ro-RO" b="1">
                <a:latin typeface="Calibri"/>
                <a:ea typeface="Calibri"/>
                <a:cs typeface="Calibri"/>
              </a:rPr>
              <a:t>Sugestii de completare pe baza întregului fișier</a:t>
            </a:r>
            <a:r>
              <a:rPr lang="ro-RO">
                <a:latin typeface="Calibri"/>
                <a:ea typeface="Calibri"/>
                <a:cs typeface="Calibri"/>
              </a:rPr>
              <a:t>: </a:t>
            </a:r>
            <a:r>
              <a:rPr lang="ro-RO" err="1">
                <a:latin typeface="Calibri"/>
                <a:ea typeface="Calibri"/>
                <a:cs typeface="Calibri"/>
              </a:rPr>
              <a:t>GitHub</a:t>
            </a:r>
            <a:r>
              <a:rPr lang="ro-RO">
                <a:latin typeface="Calibri"/>
                <a:ea typeface="Calibri"/>
                <a:cs typeface="Calibri"/>
              </a:rPr>
              <a:t> Copilot analizează structura unui fișier și oferă sugestii care au sens în contextul întregului fișier.</a:t>
            </a:r>
          </a:p>
          <a:p>
            <a:r>
              <a:rPr lang="ro-RO">
                <a:latin typeface="Calibri"/>
                <a:cs typeface="Calibri"/>
              </a:rPr>
              <a:t>Copilotul este disponibil pe mai multe platforme:</a:t>
            </a:r>
            <a:endParaRPr lang="ro-RO"/>
          </a:p>
          <a:p>
            <a:pPr marL="0" indent="0">
              <a:buNone/>
            </a:pPr>
            <a:r>
              <a:rPr lang="ro-RO">
                <a:latin typeface="Calibri"/>
                <a:cs typeface="Calibri"/>
              </a:rPr>
              <a:t>                                             -IDE, sub forma de extensii</a:t>
            </a:r>
            <a:endParaRPr lang="ro-RO"/>
          </a:p>
          <a:p>
            <a:pPr marL="0" indent="0">
              <a:buNone/>
            </a:pPr>
            <a:r>
              <a:rPr lang="ro-RO">
                <a:latin typeface="Calibri"/>
                <a:cs typeface="Calibri"/>
              </a:rPr>
              <a:t>                                             -linia de comanda, ca CLI-</a:t>
            </a:r>
            <a:r>
              <a:rPr lang="ro-RO" err="1">
                <a:latin typeface="Calibri"/>
                <a:cs typeface="Calibri"/>
              </a:rPr>
              <a:t>ul</a:t>
            </a:r>
            <a:r>
              <a:rPr lang="ro-RO">
                <a:latin typeface="Calibri"/>
                <a:cs typeface="Calibri"/>
              </a:rPr>
              <a:t> </a:t>
            </a:r>
            <a:r>
              <a:rPr lang="ro-RO" err="1">
                <a:latin typeface="Calibri"/>
                <a:cs typeface="Calibri"/>
              </a:rPr>
              <a:t>Github</a:t>
            </a:r>
            <a:endParaRPr lang="ro-RO" err="1"/>
          </a:p>
          <a:p>
            <a:pPr marL="0" indent="0">
              <a:buNone/>
            </a:pPr>
            <a:r>
              <a:rPr lang="ro-RO">
                <a:latin typeface="Calibri"/>
                <a:cs typeface="Calibri"/>
              </a:rPr>
              <a:t>                                             -pe site-ul </a:t>
            </a:r>
            <a:r>
              <a:rPr lang="ro-RO" err="1">
                <a:latin typeface="Calibri"/>
                <a:cs typeface="Calibri"/>
              </a:rPr>
              <a:t>GitHub</a:t>
            </a:r>
            <a:endParaRPr lang="ro-RO" err="1"/>
          </a:p>
          <a:p>
            <a:pPr marL="0" indent="0">
              <a:buNone/>
            </a:pPr>
            <a:endParaRPr lang="ro-RO">
              <a:latin typeface="Calibri"/>
              <a:ea typeface="Calibri"/>
              <a:cs typeface="Calibri"/>
            </a:endParaRPr>
          </a:p>
          <a:p>
            <a:endParaRPr lang="ro-RO"/>
          </a:p>
        </p:txBody>
      </p:sp>
    </p:spTree>
    <p:extLst>
      <p:ext uri="{BB962C8B-B14F-4D97-AF65-F5344CB8AC3E}">
        <p14:creationId xmlns:p14="http://schemas.microsoft.com/office/powerpoint/2010/main" val="3023626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D44B43D-AA7D-371E-E678-CD31E56371FB}"/>
              </a:ext>
            </a:extLst>
          </p:cNvPr>
          <p:cNvSpPr>
            <a:spLocks noGrp="1"/>
          </p:cNvSpPr>
          <p:nvPr>
            <p:ph type="title"/>
          </p:nvPr>
        </p:nvSpPr>
        <p:spPr>
          <a:xfrm>
            <a:off x="944033" y="384705"/>
            <a:ext cx="10287000" cy="1147762"/>
          </a:xfrm>
        </p:spPr>
        <p:txBody>
          <a:bodyPr/>
          <a:lstStyle/>
          <a:p>
            <a:r>
              <a:rPr lang="ro-RO"/>
              <a:t>Avantaje si dezavantaje</a:t>
            </a:r>
          </a:p>
        </p:txBody>
      </p:sp>
      <p:graphicFrame>
        <p:nvGraphicFramePr>
          <p:cNvPr id="4" name="Substituent conținut 3">
            <a:extLst>
              <a:ext uri="{FF2B5EF4-FFF2-40B4-BE49-F238E27FC236}">
                <a16:creationId xmlns:a16="http://schemas.microsoft.com/office/drawing/2014/main" id="{F55A4826-5C6C-8752-3F8E-7BA694161FE6}"/>
              </a:ext>
            </a:extLst>
          </p:cNvPr>
          <p:cNvGraphicFramePr>
            <a:graphicFrameLocks noGrp="1"/>
          </p:cNvGraphicFramePr>
          <p:nvPr>
            <p:ph idx="1"/>
            <p:extLst>
              <p:ext uri="{D42A27DB-BD31-4B8C-83A1-F6EECF244321}">
                <p14:modId xmlns:p14="http://schemas.microsoft.com/office/powerpoint/2010/main" val="1597313404"/>
              </p:ext>
            </p:extLst>
          </p:nvPr>
        </p:nvGraphicFramePr>
        <p:xfrm>
          <a:off x="935567" y="1718733"/>
          <a:ext cx="10287000" cy="4577080"/>
        </p:xfrm>
        <a:graphic>
          <a:graphicData uri="http://schemas.openxmlformats.org/drawingml/2006/table">
            <a:tbl>
              <a:tblPr firstRow="1" bandRow="1">
                <a:tableStyleId>{5C22544A-7EE6-4342-B048-85BDC9FD1C3A}</a:tableStyleId>
              </a:tblPr>
              <a:tblGrid>
                <a:gridCol w="5143500">
                  <a:extLst>
                    <a:ext uri="{9D8B030D-6E8A-4147-A177-3AD203B41FA5}">
                      <a16:colId xmlns:a16="http://schemas.microsoft.com/office/drawing/2014/main" val="2156248726"/>
                    </a:ext>
                  </a:extLst>
                </a:gridCol>
                <a:gridCol w="5143500">
                  <a:extLst>
                    <a:ext uri="{9D8B030D-6E8A-4147-A177-3AD203B41FA5}">
                      <a16:colId xmlns:a16="http://schemas.microsoft.com/office/drawing/2014/main" val="3413747987"/>
                    </a:ext>
                  </a:extLst>
                </a:gridCol>
              </a:tblGrid>
              <a:tr h="370840">
                <a:tc>
                  <a:txBody>
                    <a:bodyPr/>
                    <a:lstStyle/>
                    <a:p>
                      <a:r>
                        <a:rPr lang="ro-RO"/>
                        <a:t>Avantaje</a:t>
                      </a:r>
                    </a:p>
                  </a:txBody>
                  <a:tcPr/>
                </a:tc>
                <a:tc>
                  <a:txBody>
                    <a:bodyPr/>
                    <a:lstStyle/>
                    <a:p>
                      <a:r>
                        <a:rPr lang="ro-RO"/>
                        <a:t>Dezavantaje</a:t>
                      </a:r>
                    </a:p>
                  </a:txBody>
                  <a:tcPr/>
                </a:tc>
                <a:extLst>
                  <a:ext uri="{0D108BD9-81ED-4DB2-BD59-A6C34878D82A}">
                    <a16:rowId xmlns:a16="http://schemas.microsoft.com/office/drawing/2014/main" val="3899208733"/>
                  </a:ext>
                </a:extLst>
              </a:tr>
              <a:tr h="370840">
                <a:tc>
                  <a:txBody>
                    <a:bodyPr/>
                    <a:lstStyle/>
                    <a:p>
                      <a:pPr marL="285750" lvl="0" indent="-285750" algn="l">
                        <a:lnSpc>
                          <a:spcPct val="100000"/>
                        </a:lnSpc>
                        <a:spcBef>
                          <a:spcPts val="0"/>
                        </a:spcBef>
                        <a:spcAft>
                          <a:spcPts val="0"/>
                        </a:spcAft>
                        <a:buFont typeface="Calibri"/>
                        <a:buChar char="-"/>
                      </a:pPr>
                      <a:r>
                        <a:rPr lang="ro-RO" sz="1800" b="0" i="0" u="none" strike="noStrike" noProof="0" err="1">
                          <a:solidFill>
                            <a:srgbClr val="000000"/>
                          </a:solidFill>
                          <a:latin typeface="Calibri"/>
                        </a:rPr>
                        <a:t>crestere</a:t>
                      </a:r>
                      <a:r>
                        <a:rPr lang="ro-RO" sz="1800" b="0" i="0" u="none" strike="noStrike" noProof="0">
                          <a:solidFill>
                            <a:srgbClr val="000000"/>
                          </a:solidFill>
                          <a:latin typeface="Calibri"/>
                        </a:rPr>
                        <a:t> productivitate</a:t>
                      </a:r>
                      <a:endParaRPr lang="ro-RO"/>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err="1">
                          <a:solidFill>
                            <a:srgbClr val="000000"/>
                          </a:solidFill>
                          <a:latin typeface="Calibri"/>
                        </a:rPr>
                        <a:t>imbunatatire</a:t>
                      </a:r>
                      <a:r>
                        <a:rPr lang="ro-RO" sz="1800" b="0" i="0" u="none" strike="noStrike" noProof="0">
                          <a:solidFill>
                            <a:srgbClr val="000000"/>
                          </a:solidFill>
                          <a:latin typeface="Calibri"/>
                        </a:rPr>
                        <a:t> calitate cod</a:t>
                      </a:r>
                      <a:endParaRPr lang="ro-RO"/>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err="1">
                          <a:solidFill>
                            <a:srgbClr val="000000"/>
                          </a:solidFill>
                          <a:latin typeface="Calibri"/>
                        </a:rPr>
                        <a:t>invatare</a:t>
                      </a:r>
                      <a:r>
                        <a:rPr lang="ro-RO" sz="1800" b="0" i="0" u="none" strike="noStrike" noProof="0">
                          <a:solidFill>
                            <a:srgbClr val="000000"/>
                          </a:solidFill>
                          <a:latin typeface="Calibri"/>
                        </a:rPr>
                        <a:t> si ajutor </a:t>
                      </a:r>
                      <a:r>
                        <a:rPr lang="ro-RO" sz="1800" b="0" i="0" u="none" strike="noStrike" noProof="0" err="1">
                          <a:solidFill>
                            <a:srgbClr val="000000"/>
                          </a:solidFill>
                          <a:latin typeface="Calibri"/>
                        </a:rPr>
                        <a:t>pt</a:t>
                      </a:r>
                      <a:r>
                        <a:rPr lang="ro-RO" sz="1800" b="0" i="0" u="none" strike="noStrike" noProof="0">
                          <a:solidFill>
                            <a:srgbClr val="000000"/>
                          </a:solidFill>
                          <a:latin typeface="Calibri"/>
                        </a:rPr>
                        <a:t> programatori </a:t>
                      </a:r>
                      <a:r>
                        <a:rPr lang="ro-RO" sz="1800" b="0" i="0" u="none" strike="noStrike" noProof="0" err="1">
                          <a:solidFill>
                            <a:srgbClr val="000000"/>
                          </a:solidFill>
                          <a:latin typeface="Calibri"/>
                        </a:rPr>
                        <a:t>incepatori</a:t>
                      </a:r>
                      <a:endParaRPr lang="ro-RO" err="1"/>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suport pentru multiple limbaje de programare</a:t>
                      </a:r>
                      <a:endParaRPr lang="ro-RO"/>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integrare in IDE-uri populare</a:t>
                      </a:r>
                      <a:endParaRPr lang="ro-RO"/>
                    </a:p>
                    <a:p>
                      <a:pPr marL="285750" lvl="0" indent="-285750" algn="l">
                        <a:lnSpc>
                          <a:spcPct val="100000"/>
                        </a:lnSpc>
                        <a:spcBef>
                          <a:spcPts val="0"/>
                        </a:spcBef>
                        <a:spcAft>
                          <a:spcPts val="0"/>
                        </a:spcAft>
                        <a:buFont typeface="Calibri"/>
                        <a:buChar char="-"/>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Copilot permite dezvoltatorilor să colaboreze mai eficient, oferind sugestii care pot să fie un punct de plecare în conversațiile din echipe, mai ales când vine vorba de decizii de design și stil</a:t>
                      </a:r>
                    </a:p>
                    <a:p>
                      <a:pPr lvl="0">
                        <a:buNone/>
                      </a:pPr>
                      <a:endParaRPr lang="ro-RO">
                        <a:latin typeface="Calibri"/>
                      </a:endParaRPr>
                    </a:p>
                  </a:txBody>
                  <a:tcPr/>
                </a:tc>
                <a:tc>
                  <a:txBody>
                    <a:bodyPr/>
                    <a:lstStyle/>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pot </a:t>
                      </a:r>
                      <a:r>
                        <a:rPr lang="ro-RO" sz="1800" b="0" i="0" u="none" strike="noStrike" noProof="0" err="1">
                          <a:solidFill>
                            <a:srgbClr val="000000"/>
                          </a:solidFill>
                          <a:latin typeface="Calibri"/>
                        </a:rPr>
                        <a:t>aparea</a:t>
                      </a:r>
                      <a:r>
                        <a:rPr lang="ro-RO" sz="1800" b="0" i="0" u="none" strike="noStrike" noProof="0">
                          <a:solidFill>
                            <a:srgbClr val="000000"/>
                          </a:solidFill>
                          <a:latin typeface="Calibri"/>
                        </a:rPr>
                        <a:t> sugestii inexacte sau </a:t>
                      </a:r>
                      <a:r>
                        <a:rPr lang="ro-RO" sz="1800" b="0" i="0" u="none" strike="noStrike" noProof="0" err="1">
                          <a:solidFill>
                            <a:srgbClr val="000000"/>
                          </a:solidFill>
                          <a:latin typeface="Calibri"/>
                        </a:rPr>
                        <a:t>gresite</a:t>
                      </a:r>
                      <a:endParaRPr lang="ro-RO" err="1"/>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copilot poate sa nu </a:t>
                      </a:r>
                      <a:r>
                        <a:rPr lang="ro-RO" sz="1800" b="0" i="0" u="none" strike="noStrike" noProof="0" err="1">
                          <a:solidFill>
                            <a:srgbClr val="000000"/>
                          </a:solidFill>
                          <a:latin typeface="Calibri"/>
                        </a:rPr>
                        <a:t>inteleaga</a:t>
                      </a:r>
                      <a:r>
                        <a:rPr lang="ro-RO" sz="1800" b="0" i="0" u="none" strike="noStrike" noProof="0">
                          <a:solidFill>
                            <a:srgbClr val="000000"/>
                          </a:solidFill>
                          <a:latin typeface="Calibri"/>
                        </a:rPr>
                        <a:t> </a:t>
                      </a:r>
                      <a:r>
                        <a:rPr lang="ro-RO" sz="1800" b="0" i="0" u="none" strike="noStrike" noProof="0" err="1">
                          <a:solidFill>
                            <a:srgbClr val="000000"/>
                          </a:solidFill>
                          <a:latin typeface="Calibri"/>
                        </a:rPr>
                        <a:t>intregul</a:t>
                      </a:r>
                      <a:r>
                        <a:rPr lang="ro-RO" sz="1800" b="0" i="0" u="none" strike="noStrike" noProof="0">
                          <a:solidFill>
                            <a:srgbClr val="000000"/>
                          </a:solidFill>
                          <a:latin typeface="Calibri"/>
                        </a:rPr>
                        <a:t> context al unui proiect mare</a:t>
                      </a:r>
                      <a:endParaRPr lang="ro-RO"/>
                    </a:p>
                    <a:p>
                      <a:pPr lvl="0" algn="l">
                        <a:lnSpc>
                          <a:spcPct val="100000"/>
                        </a:lnSpc>
                        <a:spcBef>
                          <a:spcPts val="0"/>
                        </a:spcBef>
                        <a:spcAft>
                          <a:spcPts val="0"/>
                        </a:spcAft>
                        <a:buNone/>
                      </a:pPr>
                      <a:endParaRPr lang="ro-RO" sz="1800" b="0" i="0" u="none" strike="noStrike" noProof="0">
                        <a:solidFill>
                          <a:srgbClr val="000000"/>
                        </a:solidFill>
                        <a:latin typeface="Calibri"/>
                      </a:endParaRPr>
                    </a:p>
                    <a:p>
                      <a:pPr marL="285750" lvl="0" indent="-285750" algn="l">
                        <a:lnSpc>
                          <a:spcPct val="100000"/>
                        </a:lnSpc>
                        <a:spcBef>
                          <a:spcPts val="0"/>
                        </a:spcBef>
                        <a:spcAft>
                          <a:spcPts val="0"/>
                        </a:spcAft>
                        <a:buFont typeface="Calibri"/>
                        <a:buChar char="-"/>
                      </a:pPr>
                      <a:r>
                        <a:rPr lang="ro-RO" sz="1800" b="0" i="0" u="none" strike="noStrike" noProof="0">
                          <a:solidFill>
                            <a:srgbClr val="000000"/>
                          </a:solidFill>
                          <a:latin typeface="Calibri"/>
                        </a:rPr>
                        <a:t>dependenta de AI: daca un programator </a:t>
                      </a:r>
                      <a:r>
                        <a:rPr lang="ro-RO" sz="1800" b="0" i="0" u="none" strike="noStrike" noProof="0" err="1">
                          <a:solidFill>
                            <a:srgbClr val="000000"/>
                          </a:solidFill>
                          <a:latin typeface="Calibri"/>
                        </a:rPr>
                        <a:t>foloseste</a:t>
                      </a:r>
                      <a:r>
                        <a:rPr lang="ro-RO" sz="1800" b="0" i="0" u="none" strike="noStrike" noProof="0">
                          <a:solidFill>
                            <a:srgbClr val="000000"/>
                          </a:solidFill>
                          <a:latin typeface="Calibri"/>
                        </a:rPr>
                        <a:t> prea mult sugestiile Copilot, poate sa </a:t>
                      </a:r>
                      <a:r>
                        <a:rPr lang="ro-RO" sz="1800" b="0" i="0" u="none" strike="noStrike" noProof="0" err="1">
                          <a:solidFill>
                            <a:srgbClr val="000000"/>
                          </a:solidFill>
                          <a:latin typeface="Calibri"/>
                        </a:rPr>
                        <a:t>ajunga</a:t>
                      </a:r>
                      <a:r>
                        <a:rPr lang="ro-RO" sz="1800" b="0" i="0" u="none" strike="noStrike" noProof="0">
                          <a:solidFill>
                            <a:srgbClr val="000000"/>
                          </a:solidFill>
                          <a:latin typeface="Calibri"/>
                        </a:rPr>
                        <a:t> sa nu mai </a:t>
                      </a:r>
                      <a:r>
                        <a:rPr lang="ro-RO" sz="1800" b="0" i="0" u="none" strike="noStrike" noProof="0" err="1">
                          <a:solidFill>
                            <a:srgbClr val="000000"/>
                          </a:solidFill>
                          <a:latin typeface="Calibri"/>
                        </a:rPr>
                        <a:t>stie</a:t>
                      </a:r>
                      <a:r>
                        <a:rPr lang="ro-RO" sz="1800" b="0" i="0" u="none" strike="noStrike" noProof="0">
                          <a:solidFill>
                            <a:srgbClr val="000000"/>
                          </a:solidFill>
                          <a:latin typeface="Calibri"/>
                        </a:rPr>
                        <a:t> sa scrie cod de la 0  si sa nu mai aprecieze </a:t>
                      </a:r>
                      <a:r>
                        <a:rPr lang="ro-RO" sz="1800" b="0" i="0" u="none" strike="noStrike" noProof="0" err="1">
                          <a:solidFill>
                            <a:srgbClr val="000000"/>
                          </a:solidFill>
                          <a:latin typeface="Calibri"/>
                        </a:rPr>
                        <a:t>intelegerea</a:t>
                      </a:r>
                      <a:r>
                        <a:rPr lang="ro-RO" sz="1800" b="0" i="0" u="none" strike="noStrike" noProof="0">
                          <a:solidFill>
                            <a:srgbClr val="000000"/>
                          </a:solidFill>
                          <a:latin typeface="Calibri"/>
                        </a:rPr>
                        <a:t> profunda a limbajului de programare si a algoritmilor. </a:t>
                      </a:r>
                      <a:endParaRPr lang="ro-RO"/>
                    </a:p>
                    <a:p>
                      <a:pPr lvl="0">
                        <a:buNone/>
                      </a:pPr>
                      <a:endParaRPr lang="ro-RO"/>
                    </a:p>
                  </a:txBody>
                  <a:tcPr/>
                </a:tc>
                <a:extLst>
                  <a:ext uri="{0D108BD9-81ED-4DB2-BD59-A6C34878D82A}">
                    <a16:rowId xmlns:a16="http://schemas.microsoft.com/office/drawing/2014/main" val="998903280"/>
                  </a:ext>
                </a:extLst>
              </a:tr>
            </a:tbl>
          </a:graphicData>
        </a:graphic>
      </p:graphicFrame>
    </p:spTree>
    <p:extLst>
      <p:ext uri="{BB962C8B-B14F-4D97-AF65-F5344CB8AC3E}">
        <p14:creationId xmlns:p14="http://schemas.microsoft.com/office/powerpoint/2010/main" val="1330669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DBDB-7181-5403-2ABC-681A43496901}"/>
              </a:ext>
            </a:extLst>
          </p:cNvPr>
          <p:cNvSpPr>
            <a:spLocks noGrp="1"/>
          </p:cNvSpPr>
          <p:nvPr>
            <p:ph type="title"/>
          </p:nvPr>
        </p:nvSpPr>
        <p:spPr/>
        <p:txBody>
          <a:bodyPr/>
          <a:lstStyle/>
          <a:p>
            <a:r>
              <a:rPr lang="en-US" err="1"/>
              <a:t>Exemple</a:t>
            </a:r>
            <a:r>
              <a:rPr lang="en-US"/>
              <a:t> din </a:t>
            </a:r>
            <a:r>
              <a:rPr lang="en-US" err="1"/>
              <a:t>experienta</a:t>
            </a:r>
            <a:r>
              <a:rPr lang="en-US"/>
              <a:t> </a:t>
            </a:r>
            <a:r>
              <a:rPr lang="en-US" err="1"/>
              <a:t>personala</a:t>
            </a:r>
          </a:p>
        </p:txBody>
      </p:sp>
      <p:sp>
        <p:nvSpPr>
          <p:cNvPr id="3" name="Content Placeholder 2">
            <a:extLst>
              <a:ext uri="{FF2B5EF4-FFF2-40B4-BE49-F238E27FC236}">
                <a16:creationId xmlns:a16="http://schemas.microsoft.com/office/drawing/2014/main" id="{D4F5A84C-F5D8-44B0-EB4A-2366AD653110}"/>
              </a:ext>
            </a:extLst>
          </p:cNvPr>
          <p:cNvSpPr>
            <a:spLocks noGrp="1"/>
          </p:cNvSpPr>
          <p:nvPr>
            <p:ph idx="1"/>
          </p:nvPr>
        </p:nvSpPr>
        <p:spPr>
          <a:xfrm>
            <a:off x="952500" y="2285997"/>
            <a:ext cx="10287000" cy="4303067"/>
          </a:xfrm>
        </p:spPr>
        <p:txBody>
          <a:bodyPr vert="horz" lIns="91440" tIns="45720" rIns="91440" bIns="45720" rtlCol="0" anchor="t">
            <a:normAutofit/>
          </a:bodyPr>
          <a:lstStyle/>
          <a:p>
            <a:r>
              <a:rPr lang="en-US"/>
              <a:t>Am </a:t>
            </a:r>
            <a:r>
              <a:rPr lang="en-US" err="1"/>
              <a:t>avut</a:t>
            </a:r>
            <a:r>
              <a:rPr lang="en-US"/>
              <a:t> de </a:t>
            </a:r>
            <a:r>
              <a:rPr lang="en-US" err="1"/>
              <a:t>scris</a:t>
            </a:r>
            <a:r>
              <a:rPr lang="en-US"/>
              <a:t> o </a:t>
            </a:r>
            <a:r>
              <a:rPr lang="en-US" err="1"/>
              <a:t>metoda</a:t>
            </a:r>
            <a:r>
              <a:rPr lang="en-US"/>
              <a:t> cu </a:t>
            </a:r>
            <a:r>
              <a:rPr lang="en-US" err="1"/>
              <a:t>acelasi</a:t>
            </a:r>
            <a:r>
              <a:rPr lang="en-US"/>
              <a:t> </a:t>
            </a:r>
            <a:r>
              <a:rPr lang="en-US" err="1"/>
              <a:t>schelet</a:t>
            </a:r>
            <a:r>
              <a:rPr lang="en-US"/>
              <a:t>, </a:t>
            </a:r>
            <a:r>
              <a:rPr lang="en-US" err="1"/>
              <a:t>dar</a:t>
            </a:r>
            <a:r>
              <a:rPr lang="en-US"/>
              <a:t> cu </a:t>
            </a:r>
            <a:r>
              <a:rPr lang="en-US" err="1"/>
              <a:t>mici</a:t>
            </a:r>
            <a:r>
              <a:rPr lang="en-US"/>
              <a:t> </a:t>
            </a:r>
            <a:r>
              <a:rPr lang="en-US" err="1"/>
              <a:t>diferente</a:t>
            </a:r>
            <a:r>
              <a:rPr lang="en-US"/>
              <a:t> de </a:t>
            </a:r>
            <a:r>
              <a:rPr lang="en-US" err="1"/>
              <a:t>mai</a:t>
            </a:r>
            <a:r>
              <a:rPr lang="en-US"/>
              <a:t> </a:t>
            </a:r>
            <a:r>
              <a:rPr lang="en-US" err="1"/>
              <a:t>multe</a:t>
            </a:r>
            <a:r>
              <a:rPr lang="en-US"/>
              <a:t> </a:t>
            </a:r>
            <a:r>
              <a:rPr lang="en-US" err="1"/>
              <a:t>ori</a:t>
            </a:r>
            <a:r>
              <a:rPr lang="en-US"/>
              <a:t>. Copilot m-a </a:t>
            </a:r>
            <a:r>
              <a:rPr lang="en-US" err="1"/>
              <a:t>ajutat</a:t>
            </a:r>
            <a:r>
              <a:rPr lang="en-US"/>
              <a:t> </a:t>
            </a:r>
            <a:r>
              <a:rPr lang="en-US" err="1"/>
              <a:t>sa</a:t>
            </a:r>
            <a:r>
              <a:rPr lang="en-US"/>
              <a:t> </a:t>
            </a:r>
            <a:r>
              <a:rPr lang="en-US" err="1"/>
              <a:t>salvez</a:t>
            </a:r>
            <a:r>
              <a:rPr lang="en-US"/>
              <a:t> </a:t>
            </a:r>
            <a:r>
              <a:rPr lang="en-US" err="1"/>
              <a:t>timp</a:t>
            </a:r>
            <a:r>
              <a:rPr lang="en-US"/>
              <a:t>, </a:t>
            </a:r>
            <a:r>
              <a:rPr lang="en-US" err="1"/>
              <a:t>deoarece</a:t>
            </a:r>
            <a:r>
              <a:rPr lang="en-US"/>
              <a:t> nu am </a:t>
            </a:r>
            <a:r>
              <a:rPr lang="en-US" err="1"/>
              <a:t>pierdut</a:t>
            </a:r>
            <a:r>
              <a:rPr lang="en-US"/>
              <a:t> </a:t>
            </a:r>
            <a:r>
              <a:rPr lang="en-US" err="1"/>
              <a:t>timp</a:t>
            </a:r>
            <a:r>
              <a:rPr lang="en-US"/>
              <a:t> </a:t>
            </a:r>
            <a:r>
              <a:rPr lang="en-US" err="1"/>
              <a:t>sa</a:t>
            </a:r>
            <a:r>
              <a:rPr lang="en-US"/>
              <a:t> </a:t>
            </a:r>
            <a:r>
              <a:rPr lang="en-US" err="1"/>
              <a:t>scriu</a:t>
            </a:r>
            <a:r>
              <a:rPr lang="en-US"/>
              <a:t> </a:t>
            </a:r>
            <a:r>
              <a:rPr lang="en-US" err="1"/>
              <a:t>aceeasi</a:t>
            </a:r>
            <a:r>
              <a:rPr lang="en-US"/>
              <a:t> </a:t>
            </a:r>
            <a:r>
              <a:rPr lang="en-US" err="1"/>
              <a:t>metoda</a:t>
            </a:r>
            <a:r>
              <a:rPr lang="en-US"/>
              <a:t> de n </a:t>
            </a:r>
            <a:r>
              <a:rPr lang="en-US" err="1"/>
              <a:t>ori</a:t>
            </a:r>
            <a:r>
              <a:rPr lang="en-US"/>
              <a:t>, ci </a:t>
            </a:r>
            <a:r>
              <a:rPr lang="en-US" err="1"/>
              <a:t>i</a:t>
            </a:r>
            <a:r>
              <a:rPr lang="en-US"/>
              <a:t>-am </a:t>
            </a:r>
            <a:r>
              <a:rPr lang="en-US" err="1"/>
              <a:t>dat</a:t>
            </a:r>
            <a:r>
              <a:rPr lang="en-US"/>
              <a:t> </a:t>
            </a:r>
            <a:r>
              <a:rPr lang="en-US" err="1"/>
              <a:t>lui</a:t>
            </a:r>
            <a:r>
              <a:rPr lang="en-US"/>
              <a:t>.</a:t>
            </a:r>
          </a:p>
          <a:p>
            <a:r>
              <a:rPr lang="en-US"/>
              <a:t>Au </a:t>
            </a:r>
            <a:r>
              <a:rPr lang="en-US" err="1"/>
              <a:t>fost</a:t>
            </a:r>
            <a:r>
              <a:rPr lang="en-US"/>
              <a:t> </a:t>
            </a:r>
            <a:r>
              <a:rPr lang="en-US" err="1"/>
              <a:t>momente</a:t>
            </a:r>
            <a:r>
              <a:rPr lang="en-US"/>
              <a:t> in care mi-a </a:t>
            </a:r>
            <a:r>
              <a:rPr lang="en-US" err="1"/>
              <a:t>generat</a:t>
            </a:r>
            <a:r>
              <a:rPr lang="en-US"/>
              <a:t> un fragment de cod </a:t>
            </a:r>
            <a:r>
              <a:rPr lang="en-US" err="1"/>
              <a:t>gresit</a:t>
            </a:r>
            <a:r>
              <a:rPr lang="en-US"/>
              <a:t>, </a:t>
            </a:r>
            <a:r>
              <a:rPr lang="en-US" err="1"/>
              <a:t>iar</a:t>
            </a:r>
            <a:r>
              <a:rPr lang="en-US"/>
              <a:t> </a:t>
            </a:r>
            <a:r>
              <a:rPr lang="en-US" err="1"/>
              <a:t>eu</a:t>
            </a:r>
            <a:r>
              <a:rPr lang="en-US"/>
              <a:t> am </a:t>
            </a:r>
            <a:r>
              <a:rPr lang="en-US" err="1"/>
              <a:t>pierdut</a:t>
            </a:r>
            <a:r>
              <a:rPr lang="en-US"/>
              <a:t> ore in sir cu debugging.</a:t>
            </a:r>
          </a:p>
          <a:p>
            <a:r>
              <a:rPr lang="en-US"/>
              <a:t>Cu </a:t>
            </a:r>
            <a:r>
              <a:rPr lang="en-US" err="1"/>
              <a:t>ajutorul</a:t>
            </a:r>
            <a:r>
              <a:rPr lang="en-US"/>
              <a:t> </a:t>
            </a:r>
            <a:r>
              <a:rPr lang="en-US" err="1"/>
              <a:t>lui</a:t>
            </a:r>
            <a:r>
              <a:rPr lang="en-US"/>
              <a:t> </a:t>
            </a:r>
            <a:r>
              <a:rPr lang="en-US" err="1"/>
              <a:t>scriu</a:t>
            </a:r>
            <a:r>
              <a:rPr lang="en-US"/>
              <a:t> cod </a:t>
            </a:r>
            <a:r>
              <a:rPr lang="en-US" err="1"/>
              <a:t>mai</a:t>
            </a:r>
            <a:r>
              <a:rPr lang="en-US"/>
              <a:t> rapid, </a:t>
            </a:r>
            <a:r>
              <a:rPr lang="en-US" err="1"/>
              <a:t>deci</a:t>
            </a:r>
            <a:r>
              <a:rPr lang="en-US"/>
              <a:t> sunt </a:t>
            </a:r>
            <a:r>
              <a:rPr lang="en-US" err="1"/>
              <a:t>mai</a:t>
            </a:r>
            <a:r>
              <a:rPr lang="en-US"/>
              <a:t> </a:t>
            </a:r>
            <a:r>
              <a:rPr lang="en-US" err="1"/>
              <a:t>eficienta</a:t>
            </a:r>
            <a:r>
              <a:rPr lang="en-US"/>
              <a:t>.</a:t>
            </a:r>
          </a:p>
          <a:p>
            <a:r>
              <a:rPr lang="en-US"/>
              <a:t>In loc </a:t>
            </a:r>
            <a:r>
              <a:rPr lang="en-US" err="1"/>
              <a:t>sa</a:t>
            </a:r>
            <a:r>
              <a:rPr lang="en-US"/>
              <a:t> </a:t>
            </a:r>
            <a:r>
              <a:rPr lang="en-US" err="1"/>
              <a:t>pierd</a:t>
            </a:r>
            <a:r>
              <a:rPr lang="en-US"/>
              <a:t> </a:t>
            </a:r>
            <a:r>
              <a:rPr lang="en-US" err="1"/>
              <a:t>timp</a:t>
            </a:r>
            <a:r>
              <a:rPr lang="en-US"/>
              <a:t> cu </a:t>
            </a:r>
            <a:r>
              <a:rPr lang="en-US" err="1"/>
              <a:t>linii</a:t>
            </a:r>
            <a:r>
              <a:rPr lang="en-US"/>
              <a:t> de cod care, de </a:t>
            </a:r>
            <a:r>
              <a:rPr lang="en-US" err="1"/>
              <a:t>exemplu</a:t>
            </a:r>
            <a:r>
              <a:rPr lang="en-US"/>
              <a:t>, </a:t>
            </a:r>
            <a:r>
              <a:rPr lang="en-US" err="1"/>
              <a:t>afiseaza</a:t>
            </a:r>
            <a:r>
              <a:rPr lang="en-US"/>
              <a:t> </a:t>
            </a:r>
            <a:r>
              <a:rPr lang="en-US" err="1"/>
              <a:t>lucruri</a:t>
            </a:r>
            <a:r>
              <a:rPr lang="en-US"/>
              <a:t>, face el. </a:t>
            </a:r>
            <a:r>
              <a:rPr lang="en-US" err="1"/>
              <a:t>Astfel</a:t>
            </a:r>
            <a:r>
              <a:rPr lang="en-US"/>
              <a:t>, nu </a:t>
            </a:r>
            <a:r>
              <a:rPr lang="en-US" err="1"/>
              <a:t>mai</a:t>
            </a:r>
            <a:r>
              <a:rPr lang="en-US"/>
              <a:t> </a:t>
            </a:r>
            <a:r>
              <a:rPr lang="en-US" err="1"/>
              <a:t>pierd</a:t>
            </a:r>
            <a:r>
              <a:rPr lang="en-US"/>
              <a:t> </a:t>
            </a:r>
            <a:r>
              <a:rPr lang="en-US" err="1"/>
              <a:t>timp</a:t>
            </a:r>
            <a:r>
              <a:rPr lang="en-US"/>
              <a:t> cu </a:t>
            </a:r>
            <a:r>
              <a:rPr lang="en-US" err="1"/>
              <a:t>indentarea</a:t>
            </a:r>
            <a:r>
              <a:rPr lang="en-US"/>
              <a:t> </a:t>
            </a:r>
            <a:r>
              <a:rPr lang="en-US" err="1"/>
              <a:t>si</a:t>
            </a:r>
            <a:r>
              <a:rPr lang="en-US"/>
              <a:t> </a:t>
            </a:r>
            <a:r>
              <a:rPr lang="en-US" err="1"/>
              <a:t>greselile</a:t>
            </a:r>
            <a:r>
              <a:rPr lang="en-US"/>
              <a:t> de </a:t>
            </a:r>
            <a:r>
              <a:rPr lang="en-US" err="1"/>
              <a:t>limbaj</a:t>
            </a:r>
            <a:r>
              <a:rPr lang="en-US"/>
              <a:t>.</a:t>
            </a:r>
          </a:p>
          <a:p>
            <a:r>
              <a:rPr lang="en-US"/>
              <a:t>In </a:t>
            </a:r>
            <a:r>
              <a:rPr lang="en-US" err="1"/>
              <a:t>contextul</a:t>
            </a:r>
            <a:r>
              <a:rPr lang="en-US"/>
              <a:t> de </a:t>
            </a:r>
            <a:r>
              <a:rPr lang="en-US" err="1"/>
              <a:t>hackaton</a:t>
            </a:r>
            <a:r>
              <a:rPr lang="en-US"/>
              <a:t>, a </a:t>
            </a:r>
            <a:r>
              <a:rPr lang="en-US" err="1"/>
              <a:t>fost</a:t>
            </a:r>
            <a:r>
              <a:rPr lang="en-US"/>
              <a:t> cel </a:t>
            </a:r>
            <a:r>
              <a:rPr lang="en-US" err="1"/>
              <a:t>mai</a:t>
            </a:r>
            <a:r>
              <a:rPr lang="en-US"/>
              <a:t> bun </a:t>
            </a:r>
            <a:r>
              <a:rPr lang="en-US" err="1"/>
              <a:t>ajutor</a:t>
            </a:r>
            <a:r>
              <a:rPr lang="en-US"/>
              <a:t>, </a:t>
            </a:r>
            <a:r>
              <a:rPr lang="en-US" err="1"/>
              <a:t>deoarece</a:t>
            </a:r>
            <a:r>
              <a:rPr lang="en-US"/>
              <a:t>, pe </a:t>
            </a:r>
            <a:r>
              <a:rPr lang="en-US" err="1"/>
              <a:t>masura</a:t>
            </a:r>
            <a:r>
              <a:rPr lang="en-US"/>
              <a:t> de </a:t>
            </a:r>
            <a:r>
              <a:rPr lang="en-US" err="1"/>
              <a:t>codam</a:t>
            </a:r>
            <a:r>
              <a:rPr lang="en-US"/>
              <a:t>, </a:t>
            </a:r>
            <a:r>
              <a:rPr lang="en-US" err="1"/>
              <a:t>imi</a:t>
            </a:r>
            <a:r>
              <a:rPr lang="en-US"/>
              <a:t> </a:t>
            </a:r>
            <a:r>
              <a:rPr lang="en-US" err="1"/>
              <a:t>dadea</a:t>
            </a:r>
            <a:r>
              <a:rPr lang="en-US"/>
              <a:t> </a:t>
            </a:r>
            <a:r>
              <a:rPr lang="en-US" err="1"/>
              <a:t>idei</a:t>
            </a:r>
            <a:r>
              <a:rPr lang="en-US"/>
              <a:t>, </a:t>
            </a:r>
            <a:r>
              <a:rPr lang="en-US" err="1"/>
              <a:t>solutii</a:t>
            </a:r>
            <a:r>
              <a:rPr lang="en-US"/>
              <a:t>, genera </a:t>
            </a:r>
            <a:r>
              <a:rPr lang="en-US" err="1"/>
              <a:t>el</a:t>
            </a:r>
            <a:r>
              <a:rPr lang="en-US"/>
              <a:t> </a:t>
            </a:r>
            <a:r>
              <a:rPr lang="en-US" err="1"/>
              <a:t>pentru</a:t>
            </a:r>
            <a:r>
              <a:rPr lang="en-US"/>
              <a:t> mine. Si </a:t>
            </a:r>
            <a:r>
              <a:rPr lang="en-US" err="1"/>
              <a:t>avand</a:t>
            </a:r>
            <a:r>
              <a:rPr lang="en-US"/>
              <a:t> in </a:t>
            </a:r>
            <a:r>
              <a:rPr lang="en-US" err="1"/>
              <a:t>vedere</a:t>
            </a:r>
            <a:r>
              <a:rPr lang="en-US"/>
              <a:t> </a:t>
            </a:r>
            <a:r>
              <a:rPr lang="en-US" err="1"/>
              <a:t>nivelul</a:t>
            </a:r>
            <a:r>
              <a:rPr lang="en-US"/>
              <a:t> </a:t>
            </a:r>
            <a:r>
              <a:rPr lang="en-US" err="1"/>
              <a:t>ridicat</a:t>
            </a:r>
            <a:r>
              <a:rPr lang="en-US"/>
              <a:t> de </a:t>
            </a:r>
            <a:r>
              <a:rPr lang="en-US" err="1"/>
              <a:t>stres</a:t>
            </a:r>
            <a:r>
              <a:rPr lang="en-US"/>
              <a:t>, de </a:t>
            </a:r>
            <a:r>
              <a:rPr lang="en-US" err="1"/>
              <a:t>oboseala</a:t>
            </a:r>
            <a:r>
              <a:rPr lang="en-US"/>
              <a:t> </a:t>
            </a:r>
            <a:r>
              <a:rPr lang="en-US" err="1"/>
              <a:t>si</a:t>
            </a:r>
            <a:r>
              <a:rPr lang="en-US"/>
              <a:t> de </a:t>
            </a:r>
            <a:r>
              <a:rPr lang="en-US" err="1"/>
              <a:t>munca</a:t>
            </a:r>
            <a:r>
              <a:rPr lang="en-US"/>
              <a:t> din </a:t>
            </a:r>
            <a:r>
              <a:rPr lang="en-US" err="1"/>
              <a:t>cadrul</a:t>
            </a:r>
            <a:r>
              <a:rPr lang="en-US"/>
              <a:t> </a:t>
            </a:r>
            <a:r>
              <a:rPr lang="en-US" err="1"/>
              <a:t>unui</a:t>
            </a:r>
            <a:r>
              <a:rPr lang="en-US"/>
              <a:t> </a:t>
            </a:r>
            <a:r>
              <a:rPr lang="en-US" err="1"/>
              <a:t>hackaton</a:t>
            </a:r>
            <a:r>
              <a:rPr lang="en-US"/>
              <a:t>, Copilot </a:t>
            </a:r>
            <a:r>
              <a:rPr lang="en-US" err="1"/>
              <a:t>poate</a:t>
            </a:r>
            <a:r>
              <a:rPr lang="en-US"/>
              <a:t> fi o </a:t>
            </a:r>
            <a:r>
              <a:rPr lang="en-US" err="1"/>
              <a:t>solutie</a:t>
            </a:r>
            <a:r>
              <a:rPr lang="en-US"/>
              <a:t> buna </a:t>
            </a:r>
            <a:r>
              <a:rPr lang="en-US" err="1"/>
              <a:t>pentru</a:t>
            </a:r>
            <a:r>
              <a:rPr lang="en-US"/>
              <a:t> a </a:t>
            </a:r>
            <a:r>
              <a:rPr lang="en-US" err="1"/>
              <a:t>scrie</a:t>
            </a:r>
            <a:r>
              <a:rPr lang="en-US"/>
              <a:t> cod cat </a:t>
            </a:r>
            <a:r>
              <a:rPr lang="en-US" err="1"/>
              <a:t>mai</a:t>
            </a:r>
            <a:r>
              <a:rPr lang="en-US"/>
              <a:t> bun </a:t>
            </a:r>
            <a:r>
              <a:rPr lang="en-US" err="1"/>
              <a:t>si</a:t>
            </a:r>
            <a:r>
              <a:rPr lang="en-US"/>
              <a:t> </a:t>
            </a:r>
            <a:r>
              <a:rPr lang="en-US" err="1"/>
              <a:t>eficient</a:t>
            </a:r>
            <a:r>
              <a:rPr lang="en-US"/>
              <a:t> </a:t>
            </a:r>
            <a:r>
              <a:rPr lang="en-US" err="1"/>
              <a:t>posibil</a:t>
            </a:r>
            <a:r>
              <a:rPr lang="en-US"/>
              <a:t>, in </a:t>
            </a:r>
            <a:r>
              <a:rPr lang="en-US" err="1"/>
              <a:t>timp</a:t>
            </a:r>
            <a:r>
              <a:rPr lang="en-US"/>
              <a:t> record.</a:t>
            </a:r>
          </a:p>
          <a:p>
            <a:endParaRPr lang="en-US"/>
          </a:p>
        </p:txBody>
      </p:sp>
    </p:spTree>
    <p:extLst>
      <p:ext uri="{BB962C8B-B14F-4D97-AF65-F5344CB8AC3E}">
        <p14:creationId xmlns:p14="http://schemas.microsoft.com/office/powerpoint/2010/main" val="15877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8CBAE15-D586-B5CD-1737-20F183C494C3}"/>
              </a:ext>
            </a:extLst>
          </p:cNvPr>
          <p:cNvSpPr>
            <a:spLocks noGrp="1"/>
          </p:cNvSpPr>
          <p:nvPr>
            <p:ph type="title"/>
          </p:nvPr>
        </p:nvSpPr>
        <p:spPr>
          <a:xfrm>
            <a:off x="952500" y="401638"/>
            <a:ext cx="10287000" cy="1503362"/>
          </a:xfrm>
        </p:spPr>
        <p:txBody>
          <a:bodyPr>
            <a:normAutofit fontScale="90000"/>
          </a:bodyPr>
          <a:lstStyle/>
          <a:p>
            <a:r>
              <a:rPr lang="ro-RO" sz="4400" b="0">
                <a:latin typeface="Calibri Light"/>
                <a:ea typeface="Calibri Light"/>
                <a:cs typeface="Calibri Light"/>
              </a:rPr>
              <a:t>Sugestii pentru </a:t>
            </a:r>
            <a:r>
              <a:rPr lang="ro-RO" sz="4400" b="0" err="1">
                <a:latin typeface="Calibri Light"/>
                <a:ea typeface="Calibri Light"/>
                <a:cs typeface="Calibri Light"/>
              </a:rPr>
              <a:t>imbunatatirea</a:t>
            </a:r>
            <a:r>
              <a:rPr lang="ro-RO" sz="4400" b="0">
                <a:latin typeface="Calibri Light"/>
                <a:ea typeface="Calibri Light"/>
                <a:cs typeface="Calibri Light"/>
              </a:rPr>
              <a:t> </a:t>
            </a:r>
            <a:r>
              <a:rPr lang="ro-RO" sz="4400" b="0" err="1">
                <a:latin typeface="Calibri Light"/>
                <a:ea typeface="Calibri Light"/>
                <a:cs typeface="Calibri Light"/>
              </a:rPr>
              <a:t>productivitatii</a:t>
            </a:r>
            <a:r>
              <a:rPr lang="ro-RO" sz="4400" b="0">
                <a:latin typeface="Calibri Light"/>
                <a:ea typeface="Calibri Light"/>
                <a:cs typeface="Calibri Light"/>
              </a:rPr>
              <a:t> </a:t>
            </a:r>
          </a:p>
        </p:txBody>
      </p:sp>
      <p:sp>
        <p:nvSpPr>
          <p:cNvPr id="3" name="Substituent conținut 2">
            <a:extLst>
              <a:ext uri="{FF2B5EF4-FFF2-40B4-BE49-F238E27FC236}">
                <a16:creationId xmlns:a16="http://schemas.microsoft.com/office/drawing/2014/main" id="{8956BF47-53E3-D5BE-DA3D-9AE4EFBC481C}"/>
              </a:ext>
            </a:extLst>
          </p:cNvPr>
          <p:cNvSpPr>
            <a:spLocks noGrp="1"/>
          </p:cNvSpPr>
          <p:nvPr>
            <p:ph idx="1"/>
          </p:nvPr>
        </p:nvSpPr>
        <p:spPr>
          <a:xfrm>
            <a:off x="952500" y="2285997"/>
            <a:ext cx="10287000" cy="4316080"/>
          </a:xfrm>
        </p:spPr>
        <p:txBody>
          <a:bodyPr vert="horz" lIns="91440" tIns="45720" rIns="91440" bIns="45720" rtlCol="0" anchor="t">
            <a:normAutofit fontScale="92500"/>
          </a:bodyPr>
          <a:lstStyle/>
          <a:p>
            <a:r>
              <a:rPr lang="ro-RO" b="1">
                <a:latin typeface="Calibri"/>
                <a:ea typeface="Calibri"/>
                <a:cs typeface="Calibri"/>
              </a:rPr>
              <a:t>Utilizarea eficientă a sugestiilor AI:</a:t>
            </a:r>
            <a:r>
              <a:rPr lang="ro-RO">
                <a:latin typeface="Calibri"/>
                <a:ea typeface="Calibri"/>
                <a:cs typeface="Calibri"/>
              </a:rPr>
              <a:t> Încurajează dezvoltatorii să folosească </a:t>
            </a:r>
            <a:r>
              <a:rPr lang="ro-RO" err="1">
                <a:latin typeface="Calibri"/>
                <a:ea typeface="Calibri"/>
                <a:cs typeface="Calibri"/>
              </a:rPr>
              <a:t>GitHub</a:t>
            </a:r>
            <a:r>
              <a:rPr lang="ro-RO">
                <a:latin typeface="Calibri"/>
                <a:ea typeface="Calibri"/>
                <a:cs typeface="Calibri"/>
              </a:rPr>
              <a:t> Copilot ca un suport pentru codare, mai degrabă decât un substitut complet. Sugestiile trebuie verificate și ajustate pentru a se potrivi cu specificațiile proiectului, ceea ce ajută la menținerea calității și consistenței codului.</a:t>
            </a:r>
          </a:p>
          <a:p>
            <a:r>
              <a:rPr lang="ro-RO" b="1">
                <a:latin typeface="Calibri"/>
                <a:ea typeface="Calibri"/>
                <a:cs typeface="Calibri"/>
              </a:rPr>
              <a:t>Documentare automată:</a:t>
            </a:r>
            <a:r>
              <a:rPr lang="ro-RO">
                <a:latin typeface="Calibri"/>
                <a:ea typeface="Calibri"/>
                <a:cs typeface="Calibri"/>
              </a:rPr>
              <a:t> Folosirea Copilot </a:t>
            </a:r>
            <a:r>
              <a:rPr lang="ro-RO" err="1">
                <a:latin typeface="Calibri"/>
                <a:ea typeface="Calibri"/>
                <a:cs typeface="Calibri"/>
              </a:rPr>
              <a:t>genereaza</a:t>
            </a:r>
            <a:r>
              <a:rPr lang="ro-RO">
                <a:latin typeface="Calibri"/>
                <a:ea typeface="Calibri"/>
                <a:cs typeface="Calibri"/>
              </a:rPr>
              <a:t> rapid cod pentru funcții și metode, ceea ce ajută la clarificarea logicii codului și la îmbunătățirea lucrului în echipă. Verificarea comentariilor generate poate adăuga un plus de claritate.</a:t>
            </a:r>
          </a:p>
          <a:p>
            <a:r>
              <a:rPr lang="ro-RO" b="1">
                <a:latin typeface="Calibri"/>
                <a:ea typeface="Calibri"/>
                <a:cs typeface="Calibri"/>
              </a:rPr>
              <a:t>Optimizarea codului</a:t>
            </a:r>
            <a:r>
              <a:rPr lang="ro-RO">
                <a:latin typeface="Calibri"/>
                <a:ea typeface="Calibri"/>
                <a:cs typeface="Calibri"/>
              </a:rPr>
              <a:t>: </a:t>
            </a:r>
            <a:r>
              <a:rPr lang="ro-RO" err="1">
                <a:latin typeface="Calibri"/>
                <a:ea typeface="Calibri"/>
                <a:cs typeface="Calibri"/>
              </a:rPr>
              <a:t>GitHub</a:t>
            </a:r>
            <a:r>
              <a:rPr lang="ro-RO">
                <a:latin typeface="Calibri"/>
                <a:ea typeface="Calibri"/>
                <a:cs typeface="Calibri"/>
              </a:rPr>
              <a:t> Copilot poate sugera soluții alternative și funcții optimizate. Dezvoltatorii pot analiza și alege între diferitele sugestii pentru a selecta soluția cea mai eficientă din punct de vedere al performanței și al utilizării resurselor.</a:t>
            </a:r>
          </a:p>
          <a:p>
            <a:r>
              <a:rPr lang="ro-RO" b="1" err="1">
                <a:ea typeface="+mn-lt"/>
                <a:cs typeface="+mn-lt"/>
              </a:rPr>
              <a:t>Refactorizare</a:t>
            </a:r>
            <a:r>
              <a:rPr lang="ro-RO" b="1">
                <a:ea typeface="+mn-lt"/>
                <a:cs typeface="+mn-lt"/>
              </a:rPr>
              <a:t> periodică</a:t>
            </a:r>
            <a:r>
              <a:rPr lang="ro-RO">
                <a:ea typeface="+mn-lt"/>
                <a:cs typeface="+mn-lt"/>
              </a:rPr>
              <a:t>: Se refera la </a:t>
            </a:r>
            <a:r>
              <a:rPr lang="ro-RO" err="1">
                <a:ea typeface="+mn-lt"/>
                <a:cs typeface="+mn-lt"/>
              </a:rPr>
              <a:t>incurajarea</a:t>
            </a:r>
            <a:r>
              <a:rPr lang="ro-RO">
                <a:ea typeface="+mn-lt"/>
                <a:cs typeface="+mn-lt"/>
              </a:rPr>
              <a:t> </a:t>
            </a:r>
            <a:r>
              <a:rPr lang="ro-RO" err="1">
                <a:ea typeface="+mn-lt"/>
                <a:cs typeface="+mn-lt"/>
              </a:rPr>
              <a:t>utilizarii</a:t>
            </a:r>
            <a:r>
              <a:rPr lang="ro-RO">
                <a:ea typeface="+mn-lt"/>
                <a:cs typeface="+mn-lt"/>
              </a:rPr>
              <a:t> sugestiilor Copilot ca suport pentru </a:t>
            </a:r>
            <a:r>
              <a:rPr lang="ro-RO" err="1">
                <a:ea typeface="+mn-lt"/>
                <a:cs typeface="+mn-lt"/>
              </a:rPr>
              <a:t>refactorizarea</a:t>
            </a:r>
            <a:r>
              <a:rPr lang="ro-RO">
                <a:ea typeface="+mn-lt"/>
                <a:cs typeface="+mn-lt"/>
              </a:rPr>
              <a:t> codului. De exemplu, pot fi identificate funcții lungi sau repetări ale acelorași fragmente de cod, iar Copilot poate ajuta la extragerea acestora în funcții sau clase separate pentru o mai bună organizare și întreținere.</a:t>
            </a:r>
            <a:endParaRPr lang="ro-RO">
              <a:latin typeface="Calibri"/>
              <a:ea typeface="Calibri"/>
              <a:cs typeface="Calibri"/>
            </a:endParaRPr>
          </a:p>
        </p:txBody>
      </p:sp>
    </p:spTree>
    <p:extLst>
      <p:ext uri="{BB962C8B-B14F-4D97-AF65-F5344CB8AC3E}">
        <p14:creationId xmlns:p14="http://schemas.microsoft.com/office/powerpoint/2010/main" val="604442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8CBAE15-D586-B5CD-1737-20F183C494C3}"/>
              </a:ext>
            </a:extLst>
          </p:cNvPr>
          <p:cNvSpPr>
            <a:spLocks noGrp="1"/>
          </p:cNvSpPr>
          <p:nvPr>
            <p:ph type="title"/>
          </p:nvPr>
        </p:nvSpPr>
        <p:spPr>
          <a:xfrm>
            <a:off x="952500" y="401638"/>
            <a:ext cx="10287000" cy="1503362"/>
          </a:xfrm>
        </p:spPr>
        <p:txBody>
          <a:bodyPr>
            <a:normAutofit/>
          </a:bodyPr>
          <a:lstStyle/>
          <a:p>
            <a:r>
              <a:rPr lang="ro-RO" sz="4400" b="0">
                <a:latin typeface="Calibri Light"/>
                <a:ea typeface="Calibri Light"/>
                <a:cs typeface="Calibri Light"/>
              </a:rPr>
              <a:t>Concluzie</a:t>
            </a:r>
            <a:endParaRPr lang="en-US"/>
          </a:p>
        </p:txBody>
      </p:sp>
      <p:sp>
        <p:nvSpPr>
          <p:cNvPr id="3" name="Substituent conținut 2">
            <a:extLst>
              <a:ext uri="{FF2B5EF4-FFF2-40B4-BE49-F238E27FC236}">
                <a16:creationId xmlns:a16="http://schemas.microsoft.com/office/drawing/2014/main" id="{8956BF47-53E3-D5BE-DA3D-9AE4EFBC481C}"/>
              </a:ext>
            </a:extLst>
          </p:cNvPr>
          <p:cNvSpPr>
            <a:spLocks noGrp="1"/>
          </p:cNvSpPr>
          <p:nvPr>
            <p:ph idx="1"/>
          </p:nvPr>
        </p:nvSpPr>
        <p:spPr>
          <a:xfrm>
            <a:off x="952500" y="2285997"/>
            <a:ext cx="10287000" cy="4316080"/>
          </a:xfrm>
        </p:spPr>
        <p:txBody>
          <a:bodyPr vert="horz" lIns="91440" tIns="45720" rIns="91440" bIns="45720" rtlCol="0" anchor="t">
            <a:normAutofit/>
          </a:bodyPr>
          <a:lstStyle/>
          <a:p>
            <a:pPr marL="0" indent="0">
              <a:buNone/>
            </a:pPr>
            <a:r>
              <a:rPr lang="ro-RO" b="1" err="1">
                <a:ea typeface="+mn-lt"/>
                <a:cs typeface="+mn-lt"/>
              </a:rPr>
              <a:t>GitHub</a:t>
            </a:r>
            <a:r>
              <a:rPr lang="ro-RO" b="1">
                <a:ea typeface="+mn-lt"/>
                <a:cs typeface="+mn-lt"/>
              </a:rPr>
              <a:t> Copilot</a:t>
            </a:r>
            <a:r>
              <a:rPr lang="ro-RO">
                <a:ea typeface="+mn-lt"/>
                <a:cs typeface="+mn-lt"/>
              </a:rPr>
              <a:t> reprezintă o inovație remarcabilă în domeniul dezvoltării software, oferind programatorilor un instrument puternic care îmbunătățește productivitatea, ajută la optimizarea codului și reduce timpul necesar pentru sarcinile repetitive. Totuși, folosirea Copilot necesită un echilibru – este esențial ca programatorii să-l trateze ca pe un asistent, nu ca pe un înlocuitor complet pentru abilitățile și judecata lor profesională. Atunci când este folosit în mod responsabil, Copilot poate contribui la o experiență de codare mai eficientă și la îmbunătățirea continuă a cunoștințelor și practicilor de codare, susținând inovația și creativitatea în dezvoltarea software.</a:t>
            </a:r>
            <a:endParaRPr lang="en-US"/>
          </a:p>
        </p:txBody>
      </p:sp>
    </p:spTree>
    <p:extLst>
      <p:ext uri="{BB962C8B-B14F-4D97-AF65-F5344CB8AC3E}">
        <p14:creationId xmlns:p14="http://schemas.microsoft.com/office/powerpoint/2010/main" val="3877176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91A4-D779-6A36-B8E0-92D758D61BBF}"/>
              </a:ext>
            </a:extLst>
          </p:cNvPr>
          <p:cNvSpPr>
            <a:spLocks noGrp="1"/>
          </p:cNvSpPr>
          <p:nvPr>
            <p:ph type="title"/>
          </p:nvPr>
        </p:nvSpPr>
        <p:spPr>
          <a:xfrm>
            <a:off x="3447047" y="2922922"/>
            <a:ext cx="5305927" cy="1011405"/>
          </a:xfrm>
        </p:spPr>
        <p:txBody>
          <a:bodyPr/>
          <a:lstStyle/>
          <a:p>
            <a:r>
              <a:rPr lang="en-US" err="1"/>
              <a:t>Demonstratii</a:t>
            </a:r>
            <a:r>
              <a:rPr lang="en-US"/>
              <a:t> practice</a:t>
            </a:r>
          </a:p>
        </p:txBody>
      </p:sp>
    </p:spTree>
    <p:extLst>
      <p:ext uri="{BB962C8B-B14F-4D97-AF65-F5344CB8AC3E}">
        <p14:creationId xmlns:p14="http://schemas.microsoft.com/office/powerpoint/2010/main" val="1105302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CB41CFC-389C-2C87-BD1E-3E8ED3A43A9B}"/>
              </a:ext>
            </a:extLst>
          </p:cNvPr>
          <p:cNvSpPr>
            <a:spLocks noGrp="1"/>
          </p:cNvSpPr>
          <p:nvPr>
            <p:ph type="title"/>
          </p:nvPr>
        </p:nvSpPr>
        <p:spPr/>
        <p:txBody>
          <a:bodyPr/>
          <a:lstStyle/>
          <a:p>
            <a:r>
              <a:rPr lang="ro-RO"/>
              <a:t>surse</a:t>
            </a:r>
          </a:p>
        </p:txBody>
      </p:sp>
      <p:sp>
        <p:nvSpPr>
          <p:cNvPr id="3" name="Substituent conținut 2">
            <a:extLst>
              <a:ext uri="{FF2B5EF4-FFF2-40B4-BE49-F238E27FC236}">
                <a16:creationId xmlns:a16="http://schemas.microsoft.com/office/drawing/2014/main" id="{46A44522-2600-3F64-EC7D-5BDC2D48563C}"/>
              </a:ext>
            </a:extLst>
          </p:cNvPr>
          <p:cNvSpPr>
            <a:spLocks noGrp="1"/>
          </p:cNvSpPr>
          <p:nvPr>
            <p:ph idx="1"/>
          </p:nvPr>
        </p:nvSpPr>
        <p:spPr/>
        <p:txBody>
          <a:bodyPr vert="horz" lIns="91440" tIns="45720" rIns="91440" bIns="45720" rtlCol="0" anchor="t">
            <a:normAutofit/>
          </a:bodyPr>
          <a:lstStyle/>
          <a:p>
            <a:pPr marL="0" indent="0">
              <a:buNone/>
            </a:pPr>
            <a:r>
              <a:rPr lang="ro-RO">
                <a:latin typeface="Arial"/>
                <a:cs typeface="Arial"/>
              </a:rPr>
              <a:t>• </a:t>
            </a:r>
            <a:r>
              <a:rPr lang="ro-RO">
                <a:solidFill>
                  <a:srgbClr val="0070C0"/>
                </a:solidFill>
                <a:latin typeface="Calibri"/>
                <a:cs typeface="Calibri"/>
                <a:hlinkClick r:id="rId2">
                  <a:extLst>
                    <a:ext uri="{A12FA001-AC4F-418D-AE19-62706E023703}">
                      <ahyp:hlinkClr xmlns:ahyp="http://schemas.microsoft.com/office/drawing/2018/hyperlinkcolor" val="tx"/>
                    </a:ext>
                  </a:extLst>
                </a:hlinkClick>
              </a:rPr>
              <a:t>https://docs.github.com/de/copilot/about-github-copilot/what-is-github-copilot</a:t>
            </a:r>
            <a:endParaRPr lang="ro-RO">
              <a:solidFill>
                <a:srgbClr val="0070C0"/>
              </a:solidFill>
              <a:hlinkClick r:id="rId2">
                <a:extLst>
                  <a:ext uri="{A12FA001-AC4F-418D-AE19-62706E023703}">
                    <ahyp:hlinkClr xmlns:ahyp="http://schemas.microsoft.com/office/drawing/2018/hyperlinkcolor" val="tx"/>
                  </a:ext>
                </a:extLst>
              </a:hlinkClick>
            </a:endParaRPr>
          </a:p>
          <a:p>
            <a:pPr marL="285750" indent="-285750"/>
            <a:r>
              <a:rPr lang="ro-RO" u="sng">
                <a:solidFill>
                  <a:srgbClr val="0070C0"/>
                </a:solidFill>
                <a:latin typeface="Calibri"/>
                <a:ea typeface="+mn-lt"/>
                <a:cs typeface="+mn-lt"/>
              </a:rPr>
              <a:t>https://docs.github.com/en/copilot</a:t>
            </a:r>
            <a:endParaRPr lang="ro-RO" u="sng">
              <a:solidFill>
                <a:srgbClr val="0070C0"/>
              </a:solidFill>
              <a:latin typeface="Calibri"/>
              <a:ea typeface="Calibri"/>
              <a:cs typeface="Calibri"/>
            </a:endParaRPr>
          </a:p>
          <a:p>
            <a:endParaRPr lang="ro-RO"/>
          </a:p>
        </p:txBody>
      </p:sp>
    </p:spTree>
    <p:extLst>
      <p:ext uri="{BB962C8B-B14F-4D97-AF65-F5344CB8AC3E}">
        <p14:creationId xmlns:p14="http://schemas.microsoft.com/office/powerpoint/2010/main" val="2524047953"/>
      </p:ext>
    </p:extLst>
  </p:cSld>
  <p:clrMapOvr>
    <a:masterClrMapping/>
  </p:clrMapOvr>
</p:sld>
</file>

<file path=ppt/theme/theme1.xml><?xml version="1.0" encoding="utf-8"?>
<a:theme xmlns:a="http://schemas.openxmlformats.org/drawingml/2006/main" name="AfterglowVTI">
  <a:themeElements>
    <a:clrScheme name="AnalogousFromLightSeed_2SEEDS">
      <a:dk1>
        <a:srgbClr val="000000"/>
      </a:dk1>
      <a:lt1>
        <a:srgbClr val="FFFFFF"/>
      </a:lt1>
      <a:dk2>
        <a:srgbClr val="243941"/>
      </a:dk2>
      <a:lt2>
        <a:srgbClr val="E8E5E2"/>
      </a:lt2>
      <a:accent1>
        <a:srgbClr val="7F9EBA"/>
      </a:accent1>
      <a:accent2>
        <a:srgbClr val="81A8AB"/>
      </a:accent2>
      <a:accent3>
        <a:srgbClr val="969CC6"/>
      </a:accent3>
      <a:accent4>
        <a:srgbClr val="BA807F"/>
      </a:accent4>
      <a:accent5>
        <a:srgbClr val="BB9B82"/>
      </a:accent5>
      <a:accent6>
        <a:srgbClr val="AAA274"/>
      </a:accent6>
      <a:hlink>
        <a:srgbClr val="9F7C5D"/>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AfterglowVTI</vt:lpstr>
      <vt:lpstr>Github copilot</vt:lpstr>
      <vt:lpstr>Cuprins</vt:lpstr>
      <vt:lpstr>Ce este GitHub Copilot?</vt:lpstr>
      <vt:lpstr>CUm functioneaza github copilot?</vt:lpstr>
      <vt:lpstr>caracteristici</vt:lpstr>
      <vt:lpstr>Avantaje si dezavantaje</vt:lpstr>
      <vt:lpstr>Exemple din experienta personala</vt:lpstr>
      <vt:lpstr>Sugestii pentru imbunatatirea productivitatii </vt:lpstr>
      <vt:lpstr>Concluzie</vt:lpstr>
      <vt:lpstr>Demonstratii practice</vt:lpstr>
      <vt:lpstr>surse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2012-08-15T22:34:51Z</dcterms:created>
  <dcterms:modified xsi:type="dcterms:W3CDTF">2024-12-02T18:57:56Z</dcterms:modified>
</cp:coreProperties>
</file>